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4"/>
  </p:notesMasterIdLst>
  <p:handoutMasterIdLst>
    <p:handoutMasterId r:id="rId5"/>
  </p:handoutMasterIdLst>
  <p:sldIdLst>
    <p:sldId id="271" r:id="rId2"/>
    <p:sldId id="272" r:id="rId3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EBE3C0"/>
    <a:srgbClr val="787254"/>
    <a:srgbClr val="C4C4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376DF29-1C64-4DEC-9B79-909CC79311CB}" v="50" dt="2026-01-14T21:30:04.39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Estilo claro 1 - Acent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799B23B-EC83-4686-B30A-512413B5E67A}" styleName="Estilo claro 3 - Acent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Estilo claro 1 - Acento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Estilo claro 2 - Acento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505E3EF-67EA-436B-97B2-0124C06EBD24}" styleName="Estilo medio 4 - Énfasis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EB344D84-9AFB-497E-A393-DC336BA19D2E}" styleName="Estilo medio 3 - Énfasis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A488322-F2BA-4B5B-9748-0D474271808F}" styleName="Estilo medio 3 - Énfasis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306799F8-075E-4A3A-A7F6-7FBC6576F1A4}" styleName="Estilo temático 2 - Énfasis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Estilo temático 1 - Énfasis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27F97BB-C833-4FB7-BDE5-3F7075034690}" styleName="Estilo temático 2 - Énfasis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10" autoAdjust="0"/>
    <p:restoredTop sz="94364" autoAdjust="0"/>
  </p:normalViewPr>
  <p:slideViewPr>
    <p:cSldViewPr snapToGrid="0">
      <p:cViewPr>
        <p:scale>
          <a:sx n="100" d="100"/>
          <a:sy n="100" d="100"/>
        </p:scale>
        <p:origin x="1627" y="-12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750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10" Type="http://schemas.microsoft.com/office/2015/10/relationships/revisionInfo" Target="revisionInfo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989" y="1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r">
              <a:defRPr sz="1200"/>
            </a:lvl1pPr>
          </a:lstStyle>
          <a:p>
            <a:fld id="{03C7FEFC-EB52-44D6-B3F1-2A7BB7FA4226}" type="datetimeFigureOut">
              <a:rPr lang="es-PE" smtClean="0"/>
              <a:t>28/01/2026</a:t>
            </a:fld>
            <a:endParaRPr lang="es-PE" dirty="0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1" y="9447774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989" y="9447774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r">
              <a:defRPr sz="1200"/>
            </a:lvl1pPr>
          </a:lstStyle>
          <a:p>
            <a:fld id="{975F3604-6914-4367-AFE3-5D3ACF5B5B34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5509970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2" y="2"/>
            <a:ext cx="2971584" cy="499692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244" y="2"/>
            <a:ext cx="2972670" cy="499692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r">
              <a:defRPr sz="1200"/>
            </a:lvl1pPr>
          </a:lstStyle>
          <a:p>
            <a:fld id="{64955E78-CBAA-441B-9163-D9CD5E983BDA}" type="datetimeFigureOut">
              <a:rPr lang="en-US" smtClean="0"/>
              <a:t>1/28/2026</a:t>
            </a:fld>
            <a:endParaRPr lang="en-US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1425"/>
            <a:ext cx="2324100" cy="3359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860" tIns="45431" rIns="90860" bIns="45431" rtlCol="0" anchor="ctr"/>
          <a:lstStyle/>
          <a:p>
            <a:endParaRPr lang="en-US" dirty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587" y="4786034"/>
            <a:ext cx="5486835" cy="3917304"/>
          </a:xfrm>
          <a:prstGeom prst="rect">
            <a:avLst/>
          </a:prstGeom>
        </p:spPr>
        <p:txBody>
          <a:bodyPr vert="horz" lIns="90860" tIns="45431" rIns="90860" bIns="45431" rtlCol="0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2" y="9445997"/>
            <a:ext cx="2971584" cy="499692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244" y="9445997"/>
            <a:ext cx="2972670" cy="499692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r">
              <a:defRPr sz="1200"/>
            </a:lvl1pPr>
          </a:lstStyle>
          <a:p>
            <a:fld id="{E0D3D27F-C54F-4092-8719-89D37DC397E2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0467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28/01/2026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83737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28/01/2026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6688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28/01/2026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50849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28/01/2026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4681792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28/01/2026</a:t>
            </a:fld>
            <a:endParaRPr lang="es-PE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234724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28/01/2026</a:t>
            </a:fld>
            <a:endParaRPr lang="es-P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2136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28/01/2026</a:t>
            </a:fld>
            <a:endParaRPr lang="es-PE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88210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28/01/2026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267885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s-ES" dirty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28/01/2026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2814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28/01/2026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3218865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28/01/2026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923875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4C4E00-4716-4B48-9D97-535E4F94A274}" type="datetimeFigureOut">
              <a:rPr lang="es-PE" smtClean="0"/>
              <a:t>28/01/2026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4840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microsoft.com/office/2007/relationships/hdphoto" Target="../media/hdphoto1.wdp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microsoft.com/office/2007/relationships/hdphoto" Target="../media/hdphoto2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9E6F97-8AA4-C048-5AB0-A98864739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ifo">
            <a:extLst>
              <a:ext uri="{FF2B5EF4-FFF2-40B4-BE49-F238E27FC236}">
                <a16:creationId xmlns:a16="http://schemas.microsoft.com/office/drawing/2014/main" id="{6A27773A-14F1-8F70-059F-80FE08044C7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817"/>
          <a:stretch/>
        </p:blipFill>
        <p:spPr>
          <a:xfrm>
            <a:off x="619904" y="2645558"/>
            <a:ext cx="5273976" cy="3936266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870B36F8-C849-4FDA-A3AC-A712441709CA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4" t="2729" r="2197" b="2740"/>
          <a:stretch/>
        </p:blipFill>
        <p:spPr>
          <a:xfrm rot="5400000">
            <a:off x="-1524000" y="1524000"/>
            <a:ext cx="9906000" cy="6858000"/>
          </a:xfrm>
          <a:prstGeom prst="rect">
            <a:avLst/>
          </a:prstGeom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8999ECBF-332A-795D-7E69-2FB7C2F9E294}"/>
              </a:ext>
            </a:extLst>
          </p:cNvPr>
          <p:cNvSpPr txBox="1"/>
          <p:nvPr/>
        </p:nvSpPr>
        <p:spPr>
          <a:xfrm>
            <a:off x="474329" y="2547371"/>
            <a:ext cx="5909343" cy="9541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s-PE" sz="2800" b="1" dirty="0">
                <a:latin typeface="Adobe Garamond Pro Bold" panose="02020702060506020403" pitchFamily="18" charset="0"/>
              </a:rPr>
              <a:t>{{NOMBRES}}</a:t>
            </a:r>
          </a:p>
          <a:p>
            <a:pPr algn="ctr"/>
            <a:r>
              <a:rPr lang="es-PE" sz="2800" b="1" dirty="0">
                <a:latin typeface="Adobe Garamond Pro Bold" panose="02020702060506020403" pitchFamily="18" charset="0"/>
              </a:rPr>
              <a:t>{{APELLIDOS}}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6E9B8C3-E8C8-CFDB-DD4B-6C745A9CEF76}"/>
              </a:ext>
            </a:extLst>
          </p:cNvPr>
          <p:cNvSpPr txBox="1"/>
          <p:nvPr/>
        </p:nvSpPr>
        <p:spPr>
          <a:xfrm>
            <a:off x="1119597" y="573001"/>
            <a:ext cx="5331486" cy="11003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2500" b="1" dirty="0">
                <a:latin typeface="Arial Black" panose="020B0A04020102020204" pitchFamily="34" charset="0"/>
                <a:cs typeface="Arial" panose="020B0604020202020204" pitchFamily="34" charset="0"/>
              </a:rPr>
              <a:t>ESCUELA DE POSGRADO</a:t>
            </a:r>
          </a:p>
          <a:p>
            <a:pPr algn="ctr"/>
            <a:r>
              <a:rPr lang="es-PE" sz="1200" dirty="0">
                <a:latin typeface="Arial" panose="020B0604020202020204" pitchFamily="34" charset="0"/>
                <a:cs typeface="Arial" panose="020B0604020202020204" pitchFamily="34" charset="0"/>
              </a:rPr>
              <a:t>Unidad de Posgrado – Ciencias Sociales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N°0001-A-2022 - DUPG/CC.SS.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0229CC2A-6DFD-9888-91EA-DDF1E3ED25AC}"/>
              </a:ext>
            </a:extLst>
          </p:cNvPr>
          <p:cNvSpPr txBox="1"/>
          <p:nvPr/>
        </p:nvSpPr>
        <p:spPr>
          <a:xfrm>
            <a:off x="1656523" y="9000179"/>
            <a:ext cx="360424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DR. LUIS ENRIQUE CORONADO TELLO</a:t>
            </a:r>
          </a:p>
          <a:p>
            <a:pPr algn="ctr"/>
            <a:r>
              <a:rPr lang="pt-BR" sz="1100" dirty="0">
                <a:latin typeface="Arial" panose="020B0604020202020204" pitchFamily="34" charset="0"/>
                <a:ea typeface="Cambria Math" panose="02040503050406030204" pitchFamily="18" charset="0"/>
                <a:cs typeface="Arial" panose="020B0604020202020204" pitchFamily="34" charset="0"/>
              </a:rPr>
              <a:t>DIRECTOR</a:t>
            </a:r>
          </a:p>
          <a:p>
            <a:pPr algn="ctr"/>
            <a:r>
              <a:rPr lang="pt-BR" sz="1100" dirty="0">
                <a:latin typeface="Arial" panose="020B0604020202020204" pitchFamily="34" charset="0"/>
                <a:ea typeface="Cambria Math" panose="02040503050406030204" pitchFamily="18" charset="0"/>
                <a:cs typeface="Arial" panose="020B0604020202020204" pitchFamily="34" charset="0"/>
              </a:rPr>
              <a:t>UNID. POSGRADO CC.SS.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D3DAD84E-7B59-F666-90BC-8B34ECD78EBC}"/>
              </a:ext>
            </a:extLst>
          </p:cNvPr>
          <p:cNvSpPr/>
          <p:nvPr/>
        </p:nvSpPr>
        <p:spPr>
          <a:xfrm>
            <a:off x="619580" y="1545257"/>
            <a:ext cx="561884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PE" sz="4800" dirty="0">
                <a:latin typeface="Old English Text MT" panose="03040902040508030806" pitchFamily="66" charset="0"/>
              </a:rPr>
              <a:t>Diplomado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8DC1C730-CF27-EE49-4929-25151E2F6190}"/>
              </a:ext>
            </a:extLst>
          </p:cNvPr>
          <p:cNvSpPr/>
          <p:nvPr/>
        </p:nvSpPr>
        <p:spPr>
          <a:xfrm>
            <a:off x="2809279" y="2287819"/>
            <a:ext cx="1239442" cy="30610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s-PE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Concedido</a:t>
            </a:r>
            <a:r>
              <a:rPr lang="en-US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a:</a:t>
            </a:r>
            <a:endParaRPr lang="en-US" sz="1050" dirty="0">
              <a:solidFill>
                <a:srgbClr val="000000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tangle 60">
            <a:extLst>
              <a:ext uri="{FF2B5EF4-FFF2-40B4-BE49-F238E27FC236}">
                <a16:creationId xmlns:a16="http://schemas.microsoft.com/office/drawing/2014/main" id="{C0D9FAA0-08E8-BE91-7635-49B14F81758C}"/>
              </a:ext>
            </a:extLst>
          </p:cNvPr>
          <p:cNvSpPr/>
          <p:nvPr/>
        </p:nvSpPr>
        <p:spPr>
          <a:xfrm>
            <a:off x="477169" y="3333945"/>
            <a:ext cx="5903662" cy="2967105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/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Por haber culminado satisfactoriamente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 DIPLOMADO 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en:</a:t>
            </a:r>
          </a:p>
          <a:p>
            <a:pPr algn="ctr">
              <a:spcBef>
                <a:spcPts val="600"/>
              </a:spcBef>
            </a:pPr>
            <a:r>
              <a:rPr lang="es-PE" sz="3000" dirty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“{{TEMA_DIPLOMADO}}</a:t>
            </a:r>
            <a:r>
              <a:rPr lang="es-PE" sz="3000" dirty="0">
                <a:solidFill>
                  <a:schemeClr val="tx2">
                    <a:lumMod val="50000"/>
                  </a:schemeClr>
                </a:solidFill>
                <a:effectLst/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”</a:t>
            </a:r>
          </a:p>
          <a:p>
            <a:pPr algn="ctr">
              <a:spcBef>
                <a:spcPts val="600"/>
              </a:spcBef>
            </a:pPr>
            <a:r>
              <a:rPr lang="es-ES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Realizado desde el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{{FECHA_INICIO}} </a:t>
            </a:r>
            <a:r>
              <a:rPr lang="es-ES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hasta el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{{FECHA_FIN}}</a:t>
            </a:r>
            <a:r>
              <a:rPr lang="es-ES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con </a:t>
            </a:r>
            <a:r>
              <a:rPr lang="es-ES" sz="14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Resolución N° 0001-A-2022-DUPG/CC.SS</a:t>
            </a:r>
            <a:r>
              <a:rPr lang="es-ES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con {{HORAS_ACADEMICAS}} horas académicas y {{CREDITOS_ACADEMICOS}} créditos académicos.</a:t>
            </a:r>
            <a:endParaRPr lang="es-PE" sz="1400" b="1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600"/>
              </a:spcBef>
            </a:pPr>
            <a:r>
              <a:rPr lang="es-PE" sz="1400" dirty="0"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Por tanto, se expide el presente Diplomado para que se le reconozca como tal.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E2BAC0BA-6DEF-E8B2-0599-9DAE3B94E3B4}"/>
              </a:ext>
            </a:extLst>
          </p:cNvPr>
          <p:cNvSpPr/>
          <p:nvPr/>
        </p:nvSpPr>
        <p:spPr>
          <a:xfrm>
            <a:off x="1071040" y="3342633"/>
            <a:ext cx="5167704" cy="1846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Bef>
                <a:spcPts val="415"/>
              </a:spcBef>
              <a:spcAft>
                <a:spcPts val="415"/>
              </a:spcAft>
            </a:pPr>
            <a:r>
              <a:rPr lang="es-PE" sz="600" b="1" dirty="0">
                <a:latin typeface="Cambria Math" panose="020405030504060302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 </a:t>
            </a:r>
            <a:endParaRPr lang="en-US" sz="900" b="1" dirty="0">
              <a:latin typeface="Cambria Math" panose="020405030504060302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4" name="Imagen 23">
            <a:extLst>
              <a:ext uri="{FF2B5EF4-FFF2-40B4-BE49-F238E27FC236}">
                <a16:creationId xmlns:a16="http://schemas.microsoft.com/office/drawing/2014/main" id="{708EF6E7-939C-942D-2427-C4AB8AA9CEF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549" y="493030"/>
            <a:ext cx="944439" cy="944439"/>
          </a:xfrm>
          <a:prstGeom prst="rect">
            <a:avLst/>
          </a:prstGeom>
        </p:spPr>
      </p:pic>
      <p:sp>
        <p:nvSpPr>
          <p:cNvPr id="15" name="Rectángulo 14">
            <a:extLst>
              <a:ext uri="{FF2B5EF4-FFF2-40B4-BE49-F238E27FC236}">
                <a16:creationId xmlns:a16="http://schemas.microsoft.com/office/drawing/2014/main" id="{6181BA67-E1F2-0033-0081-C78685C4EFFB}"/>
              </a:ext>
            </a:extLst>
          </p:cNvPr>
          <p:cNvSpPr/>
          <p:nvPr/>
        </p:nvSpPr>
        <p:spPr>
          <a:xfrm>
            <a:off x="3246807" y="7258027"/>
            <a:ext cx="3176336" cy="3039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lnSpc>
                <a:spcPct val="115000"/>
              </a:lnSpc>
              <a:spcBef>
                <a:spcPts val="59"/>
              </a:spcBef>
            </a:pPr>
            <a:r>
              <a:rPr lang="es-PE" sz="13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Trujillo, {{FECHA_EMISION_LARGA}}</a:t>
            </a:r>
            <a:endParaRPr lang="en-US" sz="1300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8AFE8DB8-BB3D-9C4F-317A-D420ABEEF7C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5860" y="6371244"/>
            <a:ext cx="830904" cy="830904"/>
          </a:xfrm>
          <a:prstGeom prst="rect">
            <a:avLst/>
          </a:prstGeom>
        </p:spPr>
      </p:pic>
      <p:pic>
        <p:nvPicPr>
          <p:cNvPr id="4" name="Imagen 3" descr="Imagen en blanco y negro&#10;&#10;Descripción generada automáticamente con confianza baja">
            <a:extLst>
              <a:ext uri="{FF2B5EF4-FFF2-40B4-BE49-F238E27FC236}">
                <a16:creationId xmlns:a16="http://schemas.microsoft.com/office/drawing/2014/main" id="{60DE8CCB-49A1-55D7-C9BB-F7CB1F5B359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7435" y="7803847"/>
            <a:ext cx="2813850" cy="121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5904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06C1B-6B19-6A03-3941-FFCD028314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rifo">
            <a:extLst>
              <a:ext uri="{FF2B5EF4-FFF2-40B4-BE49-F238E27FC236}">
                <a16:creationId xmlns:a16="http://schemas.microsoft.com/office/drawing/2014/main" id="{A31EE33C-C2BD-2E42-1AD7-EE358415BDE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817"/>
          <a:stretch/>
        </p:blipFill>
        <p:spPr>
          <a:xfrm>
            <a:off x="619904" y="2645558"/>
            <a:ext cx="5273976" cy="3936266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DE39FEEC-B130-7A8B-9537-028B123BD7EB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4" t="2729" r="2197" b="2740"/>
          <a:stretch/>
        </p:blipFill>
        <p:spPr>
          <a:xfrm rot="5400000">
            <a:off x="-1524000" y="1524000"/>
            <a:ext cx="9906000" cy="6858000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D44B2567-D1AD-5922-21FA-C8B8BF799204}"/>
              </a:ext>
            </a:extLst>
          </p:cNvPr>
          <p:cNvSpPr txBox="1"/>
          <p:nvPr/>
        </p:nvSpPr>
        <p:spPr>
          <a:xfrm>
            <a:off x="625786" y="2308000"/>
            <a:ext cx="562052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CERTIFICADO DE ESTUDIOS</a:t>
            </a:r>
          </a:p>
          <a:p>
            <a:r>
              <a:rPr lang="es-ES" sz="1400" b="1" dirty="0">
                <a:latin typeface="Arial" panose="020B0604020202020204" pitchFamily="34" charset="0"/>
                <a:cs typeface="Arial" panose="020B0604020202020204" pitchFamily="34" charset="0"/>
              </a:rPr>
              <a:t>PARTICIPANTE: </a:t>
            </a:r>
            <a:r>
              <a:rPr lang="es-ES" sz="1400" dirty="0">
                <a:latin typeface="Arial" pitchFamily="34" charset="0"/>
                <a:cs typeface="Arial" pitchFamily="34" charset="0"/>
              </a:rPr>
              <a:t>{{NOMBRE_COMPLETO_MINUSCULA}}</a:t>
            </a:r>
          </a:p>
          <a:p>
            <a:r>
              <a:rPr lang="es-ES" sz="1400" b="1" dirty="0">
                <a:latin typeface="Arial" panose="020B0604020202020204" pitchFamily="34" charset="0"/>
                <a:cs typeface="Arial" panose="020B0604020202020204" pitchFamily="34" charset="0"/>
              </a:rPr>
              <a:t>DIPLOMADO: </a:t>
            </a:r>
            <a:r>
              <a:rPr lang="es-MX" sz="1400" dirty="0">
                <a:latin typeface="Arial" panose="020B0604020202020204" pitchFamily="34" charset="0"/>
                <a:cs typeface="Arial" panose="020B0604020202020204" pitchFamily="34" charset="0"/>
              </a:rPr>
              <a:t>{{TEMA_DIPLOMADO}}</a:t>
            </a:r>
            <a:r>
              <a:rPr lang="es-ES" sz="1400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endParaRPr lang="es-PE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905279B-8A1A-60AD-DBCF-9146CF7AC537}"/>
              </a:ext>
            </a:extLst>
          </p:cNvPr>
          <p:cNvSpPr txBox="1"/>
          <p:nvPr/>
        </p:nvSpPr>
        <p:spPr>
          <a:xfrm>
            <a:off x="763257" y="1272504"/>
            <a:ext cx="5331486" cy="11003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2500" b="1" dirty="0">
                <a:latin typeface="Arial Black" panose="020B0A04020102020204" pitchFamily="34" charset="0"/>
                <a:cs typeface="Arial" panose="020B0604020202020204" pitchFamily="34" charset="0"/>
              </a:rPr>
              <a:t>ESCUELA DE POSGRADO</a:t>
            </a:r>
          </a:p>
          <a:p>
            <a:pPr algn="ctr"/>
            <a:r>
              <a:rPr lang="es-PE" sz="1200" dirty="0">
                <a:latin typeface="Arial" panose="020B0604020202020204" pitchFamily="34" charset="0"/>
                <a:cs typeface="Arial" panose="020B0604020202020204" pitchFamily="34" charset="0"/>
              </a:rPr>
              <a:t>Unidad de Posgrado – Ciencias Sociales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N°0001-A-2022 - DUPG/CC.SS.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" name="Imagen 19">
            <a:extLst>
              <a:ext uri="{FF2B5EF4-FFF2-40B4-BE49-F238E27FC236}">
                <a16:creationId xmlns:a16="http://schemas.microsoft.com/office/drawing/2014/main" id="{BC1963C1-8115-CE5F-66E0-1879E056A1F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1867" y="413581"/>
            <a:ext cx="944439" cy="944439"/>
          </a:xfrm>
          <a:prstGeom prst="rect">
            <a:avLst/>
          </a:prstGeom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18B7924A-01F7-754B-B32C-EB57782BF6B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894" y="408167"/>
            <a:ext cx="944439" cy="944439"/>
          </a:xfrm>
          <a:prstGeom prst="rect">
            <a:avLst/>
          </a:prstGeom>
        </p:spPr>
      </p:pic>
      <p:pic>
        <p:nvPicPr>
          <p:cNvPr id="31" name="Imagen 30">
            <a:extLst>
              <a:ext uri="{FF2B5EF4-FFF2-40B4-BE49-F238E27FC236}">
                <a16:creationId xmlns:a16="http://schemas.microsoft.com/office/drawing/2014/main" id="{658A5203-4F22-326E-03E9-4FE45DC4F3AE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7" t="35647" r="1849" b="33893"/>
          <a:stretch/>
        </p:blipFill>
        <p:spPr>
          <a:xfrm>
            <a:off x="1785990" y="302475"/>
            <a:ext cx="3271785" cy="1037653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1EC6BD60-6DC5-02F8-BEE1-065D8B6844A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0361" y="7811375"/>
            <a:ext cx="830904" cy="830904"/>
          </a:xfrm>
          <a:prstGeom prst="rect">
            <a:avLst/>
          </a:prstGeom>
        </p:spPr>
      </p:pic>
      <p:graphicFrame>
        <p:nvGraphicFramePr>
          <p:cNvPr id="9" name="Tabla 8">
            <a:extLst>
              <a:ext uri="{FF2B5EF4-FFF2-40B4-BE49-F238E27FC236}">
                <a16:creationId xmlns:a16="http://schemas.microsoft.com/office/drawing/2014/main" id="{E87E72C3-3A1E-3D1C-E56C-523B3565BE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6362663"/>
              </p:ext>
            </p:extLst>
          </p:nvPr>
        </p:nvGraphicFramePr>
        <p:xfrm>
          <a:off x="619904" y="8314295"/>
          <a:ext cx="2286000" cy="11073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93520">
                  <a:extLst>
                    <a:ext uri="{9D8B030D-6E8A-4147-A177-3AD203B41FA5}">
                      <a16:colId xmlns:a16="http://schemas.microsoft.com/office/drawing/2014/main" val="3672384949"/>
                    </a:ext>
                  </a:extLst>
                </a:gridCol>
                <a:gridCol w="792480">
                  <a:extLst>
                    <a:ext uri="{9D8B030D-6E8A-4147-A177-3AD203B41FA5}">
                      <a16:colId xmlns:a16="http://schemas.microsoft.com/office/drawing/2014/main" val="3814524112"/>
                    </a:ext>
                  </a:extLst>
                </a:gridCol>
              </a:tblGrid>
              <a:tr h="536550">
                <a:tc>
                  <a:txBody>
                    <a:bodyPr/>
                    <a:lstStyle/>
                    <a:p>
                      <a:r>
                        <a:rPr lang="es-ES" sz="800" b="1" dirty="0"/>
                        <a:t>CÓDIGO: UNT-CCSS/2022 -</a:t>
                      </a:r>
                      <a:r>
                        <a:rPr lang="es-ES" sz="800" b="1" baseline="0" dirty="0"/>
                        <a:t> CC</a:t>
                      </a:r>
                      <a:endParaRPr lang="es-ES" sz="800" b="1" dirty="0"/>
                    </a:p>
                    <a:p>
                      <a:endParaRPr lang="es-ES" sz="700" b="1" dirty="0"/>
                    </a:p>
                    <a:p>
                      <a:pPr marL="0" marR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s-ES" sz="800" b="1" dirty="0"/>
                        <a:t>REGISTRO: </a:t>
                      </a:r>
                      <a:r>
                        <a:rPr lang="es-ES" sz="800" b="0" baseline="0" dirty="0"/>
                        <a:t> </a:t>
                      </a:r>
                      <a:r>
                        <a:rPr lang="es-ES" sz="800" b="1" baseline="0" dirty="0"/>
                        <a:t>{{FOLIO_NUMERO}}</a:t>
                      </a:r>
                      <a:endParaRPr lang="en-US" sz="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tc rowSpan="3">
                  <a:txBody>
                    <a:bodyPr/>
                    <a:lstStyle/>
                    <a:p>
                      <a:endParaRPr lang="en-US" sz="9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64267907"/>
                  </a:ext>
                </a:extLst>
              </a:tr>
              <a:tr h="284426">
                <a:tc>
                  <a:txBody>
                    <a:bodyPr/>
                    <a:lstStyle/>
                    <a:p>
                      <a:r>
                        <a:rPr lang="es-ES" sz="800" b="1" dirty="0"/>
                        <a:t>LIBRO</a:t>
                      </a:r>
                      <a:r>
                        <a:rPr lang="es-ES" sz="800" b="1" baseline="0" dirty="0"/>
                        <a:t>:         01</a:t>
                      </a:r>
                      <a:endParaRPr lang="en-US" sz="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89916323"/>
                  </a:ext>
                </a:extLst>
              </a:tr>
              <a:tr h="259024">
                <a:tc>
                  <a:txBody>
                    <a:bodyPr/>
                    <a:lstStyle/>
                    <a:p>
                      <a:r>
                        <a:rPr lang="es-ES" sz="800" b="1" dirty="0"/>
                        <a:t>FIRMA:</a:t>
                      </a:r>
                      <a:endParaRPr lang="en-US" sz="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422089"/>
                  </a:ext>
                </a:extLst>
              </a:tr>
            </a:tbl>
          </a:graphicData>
        </a:graphic>
      </p:graphicFrame>
      <p:graphicFrame>
        <p:nvGraphicFramePr>
          <p:cNvPr id="14" name="Tabla 13">
            <a:extLst>
              <a:ext uri="{FF2B5EF4-FFF2-40B4-BE49-F238E27FC236}">
                <a16:creationId xmlns:a16="http://schemas.microsoft.com/office/drawing/2014/main" id="{727B0309-C2F5-4DEB-3AF8-D7FD142D7B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1448026"/>
              </p:ext>
            </p:extLst>
          </p:nvPr>
        </p:nvGraphicFramePr>
        <p:xfrm>
          <a:off x="745017" y="3111497"/>
          <a:ext cx="5367967" cy="4519506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449715">
                  <a:extLst>
                    <a:ext uri="{9D8B030D-6E8A-4147-A177-3AD203B41FA5}">
                      <a16:colId xmlns:a16="http://schemas.microsoft.com/office/drawing/2014/main" val="1484549653"/>
                    </a:ext>
                  </a:extLst>
                </a:gridCol>
                <a:gridCol w="2678906">
                  <a:extLst>
                    <a:ext uri="{9D8B030D-6E8A-4147-A177-3AD203B41FA5}">
                      <a16:colId xmlns:a16="http://schemas.microsoft.com/office/drawing/2014/main" val="1352610699"/>
                    </a:ext>
                  </a:extLst>
                </a:gridCol>
                <a:gridCol w="1239346">
                  <a:extLst>
                    <a:ext uri="{9D8B030D-6E8A-4147-A177-3AD203B41FA5}">
                      <a16:colId xmlns:a16="http://schemas.microsoft.com/office/drawing/2014/main" val="3793606720"/>
                    </a:ext>
                  </a:extLst>
                </a:gridCol>
              </a:tblGrid>
              <a:tr h="499802">
                <a:tc>
                  <a:txBody>
                    <a:bodyPr/>
                    <a:lstStyle/>
                    <a:p>
                      <a:pPr algn="ctr"/>
                      <a:r>
                        <a:rPr lang="en-US" sz="1100" kern="1200" dirty="0"/>
                        <a:t>MÓDULO</a:t>
                      </a:r>
                      <a:endParaRPr lang="en-US" sz="11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dirty="0"/>
                        <a:t>TEMAS</a:t>
                      </a:r>
                      <a:endParaRPr lang="en-US" sz="11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dirty="0"/>
                        <a:t>HORAS ACADÉMICAS</a:t>
                      </a:r>
                      <a:endParaRPr lang="en-US" sz="11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8635017"/>
                  </a:ext>
                </a:extLst>
              </a:tr>
              <a:tr h="410588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 dirty="0"/>
                        <a:t>{{MODULO_1}}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{{HORAS_MODULO_1}}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180495"/>
                  </a:ext>
                </a:extLst>
              </a:tr>
              <a:tr h="381831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00" dirty="0"/>
                        <a:t>{{MODULO_2}}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/>
                        <a:t>{{HORAS_MODULO_2}}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6037612"/>
                  </a:ext>
                </a:extLst>
              </a:tr>
              <a:tr h="335567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00" dirty="0"/>
                        <a:t>{{MODULO_3}}</a:t>
                      </a:r>
                      <a:endParaRPr lang="es-PE" sz="10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{{HORAS_MODULO_3}}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3539144"/>
                  </a:ext>
                </a:extLst>
              </a:tr>
              <a:tr h="335567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00" dirty="0"/>
                        <a:t>{{MODULO_4}}</a:t>
                      </a:r>
                      <a:endParaRPr lang="es-PE" sz="10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/>
                        <a:t>{{HORAS_MODULO_4}}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239132"/>
                  </a:ext>
                </a:extLst>
              </a:tr>
              <a:tr h="335567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00" dirty="0"/>
                        <a:t>{{MODULO_5}}</a:t>
                      </a:r>
                      <a:endParaRPr lang="es-PE" sz="10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{{HORAS_MODULO_5}}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18797912"/>
                  </a:ext>
                </a:extLst>
              </a:tr>
              <a:tr h="335567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r>
                        <a:rPr lang="en-U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</a:t>
                      </a: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000" dirty="0"/>
                        <a:t>{{MODULO_6}}</a:t>
                      </a:r>
                      <a:endParaRPr lang="es-PE" sz="10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/>
                        <a:t>{{HORAS_MODULO_6}}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586"/>
                  </a:ext>
                </a:extLst>
              </a:tr>
              <a:tr h="335567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r>
                        <a:rPr lang="en-U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II</a:t>
                      </a: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00" dirty="0"/>
                        <a:t>{{MODULO_7}}</a:t>
                      </a:r>
                      <a:endParaRPr lang="es-PE" sz="10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{{HORAS_MODULO_7}}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08306206"/>
                  </a:ext>
                </a:extLst>
              </a:tr>
              <a:tr h="335567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r>
                        <a:rPr lang="en-U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III</a:t>
                      </a: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00" dirty="0"/>
                        <a:t>{{MODULO_8}}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/>
                        <a:t>{{HORAS_MODULO_8}}</a:t>
                      </a:r>
                      <a:endParaRPr lang="en-US" sz="105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00072851"/>
                  </a:ext>
                </a:extLst>
              </a:tr>
              <a:tr h="335567">
                <a:tc gridSpan="2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HORAS TOTALES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1200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712995416"/>
                  </a:ext>
                </a:extLst>
              </a:tr>
              <a:tr h="335567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CALIFICACIÓN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050" b="0" dirty="0"/>
                        <a:t>18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1607830913"/>
                  </a:ext>
                </a:extLst>
              </a:tr>
            </a:tbl>
          </a:graphicData>
        </a:graphic>
      </p:graphicFrame>
      <p:pic>
        <p:nvPicPr>
          <p:cNvPr id="2" name="Imagen 1">
            <a:extLst>
              <a:ext uri="{FF2B5EF4-FFF2-40B4-BE49-F238E27FC236}">
                <a16:creationId xmlns:a16="http://schemas.microsoft.com/office/drawing/2014/main" id="{9DBA52C2-93AA-11C2-3024-1B96B460CDCF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40000" contrast="-40000"/>
                    </a14:imgEffect>
                  </a14:imgLayer>
                </a14:imgProps>
              </a:ext>
            </a:extLst>
          </a:blip>
          <a:srcRect l="22089" t="61284" r="63006" b="12845"/>
          <a:stretch/>
        </p:blipFill>
        <p:spPr>
          <a:xfrm>
            <a:off x="1107418" y="9085095"/>
            <a:ext cx="342861" cy="256725"/>
          </a:xfrm>
          <a:prstGeom prst="rect">
            <a:avLst/>
          </a:prstGeom>
        </p:spPr>
      </p:pic>
      <p:sp>
        <p:nvSpPr>
          <p:cNvPr id="4" name="CuadroTexto 1">
            <a:extLst>
              <a:ext uri="{FF2B5EF4-FFF2-40B4-BE49-F238E27FC236}">
                <a16:creationId xmlns:a16="http://schemas.microsoft.com/office/drawing/2014/main" id="{73FC219E-6E54-02C6-2D68-ED6FE3FBB5EC}"/>
              </a:ext>
            </a:extLst>
          </p:cNvPr>
          <p:cNvSpPr txBox="1"/>
          <p:nvPr/>
        </p:nvSpPr>
        <p:spPr>
          <a:xfrm>
            <a:off x="2905904" y="8272947"/>
            <a:ext cx="1397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PE"/>
              <a:t>{{QR_CODE}}</a:t>
            </a:r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692920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86310</TotalTime>
  <Words>319</Words>
  <Application>Microsoft Office PowerPoint</Application>
  <PresentationFormat>A4 (210 x 297 mm)</PresentationFormat>
  <Paragraphs>61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10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13" baseType="lpstr">
      <vt:lpstr>Adobe Garamond Pro Bold</vt:lpstr>
      <vt:lpstr>Arial</vt:lpstr>
      <vt:lpstr>Arial Black</vt:lpstr>
      <vt:lpstr>Bahnschrift</vt:lpstr>
      <vt:lpstr>Britannic Bold</vt:lpstr>
      <vt:lpstr>Calibri</vt:lpstr>
      <vt:lpstr>Calibri Light</vt:lpstr>
      <vt:lpstr>Cambria Math</vt:lpstr>
      <vt:lpstr>Old English Text MT</vt:lpstr>
      <vt:lpstr>Times New Roman</vt:lpstr>
      <vt:lpstr>Tema de Office</vt:lpstr>
      <vt:lpstr>Presentación de PowerPoint</vt:lpstr>
      <vt:lpstr>Presentación de PowerPoint</vt:lpstr>
    </vt:vector>
  </TitlesOfParts>
  <Company>Educa Perú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Educa Peru</dc:creator>
  <cp:lastModifiedBy>Benjamín de Jesús Cueva Niño de Guzmán</cp:lastModifiedBy>
  <cp:revision>1218</cp:revision>
  <cp:lastPrinted>2026-01-08T17:39:28Z</cp:lastPrinted>
  <dcterms:created xsi:type="dcterms:W3CDTF">2018-11-06T14:43:46Z</dcterms:created>
  <dcterms:modified xsi:type="dcterms:W3CDTF">2026-01-28T20:25:18Z</dcterms:modified>
</cp:coreProperties>
</file>