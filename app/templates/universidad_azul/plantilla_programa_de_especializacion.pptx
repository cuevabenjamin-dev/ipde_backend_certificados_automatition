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290" r:id="rId2"/>
    <p:sldId id="291" r:id="rId3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364" autoAdjust="0"/>
  </p:normalViewPr>
  <p:slideViewPr>
    <p:cSldViewPr snapToGrid="0">
      <p:cViewPr>
        <p:scale>
          <a:sx n="100" d="100"/>
          <a:sy n="100" d="100"/>
        </p:scale>
        <p:origin x="1627" y="-1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989" y="1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29/01/2026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1" y="9447774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989" y="9447774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71584" cy="499692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244" y="2"/>
            <a:ext cx="2972670" cy="499692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1425"/>
            <a:ext cx="23241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60" tIns="45431" rIns="90860" bIns="45431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587" y="4786034"/>
            <a:ext cx="5486835" cy="3917304"/>
          </a:xfrm>
          <a:prstGeom prst="rect">
            <a:avLst/>
          </a:prstGeom>
        </p:spPr>
        <p:txBody>
          <a:bodyPr vert="horz" lIns="90860" tIns="45431" rIns="90860" bIns="45431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45997"/>
            <a:ext cx="2971584" cy="499692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244" y="9445997"/>
            <a:ext cx="2972670" cy="499692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29/01/2026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29/01/2026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29/01/2026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29/01/2026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29/01/2026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29/01/2026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29/01/2026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29/01/2026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29/01/2026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29/01/2026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29/01/2026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29/01/2026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microsoft.com/office/2007/relationships/hdphoto" Target="../media/hdphoto1.wdp"/><Relationship Id="rId9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ifo"/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619904" y="2645558"/>
            <a:ext cx="5273976" cy="3936266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>
            <a:fillRect/>
          </a:stretch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474329" y="3082550"/>
            <a:ext cx="5909343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E" sz="2800" b="1" dirty="0">
                <a:latin typeface="Adobe Garamond Pro Bold" panose="02020702060506020403" pitchFamily="18" charset="0"/>
              </a:rPr>
              <a:t>{{NOMBRES}}</a:t>
            </a:r>
          </a:p>
          <a:p>
            <a:pPr algn="ctr"/>
            <a:r>
              <a:rPr lang="es-PE" sz="2800" b="1" dirty="0">
                <a:latin typeface="Adobe Garamond Pro Bold" panose="02020702060506020403" pitchFamily="18" charset="0"/>
              </a:rPr>
              <a:t>{{APELLIDOS}}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1119597" y="573001"/>
            <a:ext cx="5331486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E" b="1" dirty="0">
                <a:latin typeface="Arial" pitchFamily="34" charset="0"/>
                <a:cs typeface="Arial" pitchFamily="34" charset="0"/>
              </a:rPr>
              <a:t>UNIVERSIDAD NACIONAL DE TRUJILLO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s-PE" sz="2500" b="1" dirty="0">
                <a:latin typeface="Arial Black" panose="020B0A04020102020204" pitchFamily="34" charset="0"/>
                <a:cs typeface="Arial" pitchFamily="34" charset="0"/>
              </a:rPr>
              <a:t>ESCUELA DE POSGRADO</a:t>
            </a:r>
          </a:p>
          <a:p>
            <a:pPr algn="ctr"/>
            <a:r>
              <a:rPr lang="es-PE" sz="1200" dirty="0">
                <a:latin typeface="Arial" pitchFamily="34" charset="0"/>
                <a:cs typeface="Arial" pitchFamily="34" charset="0"/>
              </a:rPr>
              <a:t>Unidad de Posgrado – Ciencias Sociales</a:t>
            </a:r>
            <a:endParaRPr lang="en-US" sz="12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s-MX" sz="1050" b="1" dirty="0">
                <a:latin typeface="Arial" pitchFamily="34" charset="0"/>
                <a:cs typeface="Arial" pitchFamily="34" charset="0"/>
              </a:rPr>
              <a:t>RESOLUCIÓN N°0001-A-2022 - DUPG/CC.SS.</a:t>
            </a:r>
            <a:endParaRPr lang="es-PE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1626880" y="8986732"/>
            <a:ext cx="360424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DR. LUIS ENRIQUE CORONADO TELLO</a:t>
            </a:r>
          </a:p>
          <a:p>
            <a:pPr algn="ctr"/>
            <a:r>
              <a:rPr lang="pt-BR" sz="1100" dirty="0">
                <a:latin typeface="Arial" pitchFamily="34" charset="0"/>
                <a:ea typeface="Cambria Math" panose="02040503050406030204" pitchFamily="18" charset="0"/>
                <a:cs typeface="Arial" pitchFamily="34" charset="0"/>
              </a:rPr>
              <a:t>DIRECTOR</a:t>
            </a:r>
          </a:p>
          <a:p>
            <a:pPr algn="ctr"/>
            <a:r>
              <a:rPr lang="pt-BR" sz="1100" dirty="0">
                <a:latin typeface="Arial" pitchFamily="34" charset="0"/>
                <a:ea typeface="Cambria Math" panose="02040503050406030204" pitchFamily="18" charset="0"/>
                <a:cs typeface="Arial" pitchFamily="34" charset="0"/>
              </a:rPr>
              <a:t>UNID. POSGRADO CC.SS.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619580" y="1420390"/>
            <a:ext cx="5618840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E" sz="4800" dirty="0">
                <a:latin typeface="Old English Text MT" panose="03040902040508030806" pitchFamily="66" charset="0"/>
              </a:rPr>
              <a:t>Programa de</a:t>
            </a:r>
          </a:p>
          <a:p>
            <a:pPr algn="ctr"/>
            <a:r>
              <a:rPr lang="es-PE" sz="4800" dirty="0">
                <a:latin typeface="Old English Text MT" panose="03040902040508030806" pitchFamily="66" charset="0"/>
              </a:rPr>
              <a:t>Especialización</a:t>
            </a:r>
          </a:p>
        </p:txBody>
      </p:sp>
      <p:sp>
        <p:nvSpPr>
          <p:cNvPr id="3" name="Rectángulo 2"/>
          <p:cNvSpPr/>
          <p:nvPr/>
        </p:nvSpPr>
        <p:spPr>
          <a:xfrm>
            <a:off x="2809279" y="2837298"/>
            <a:ext cx="1239442" cy="30610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400" dirty="0">
                <a:solidFill>
                  <a:srgbClr val="000000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Concedido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 a:</a:t>
            </a:r>
            <a:endParaRPr lang="en-US" sz="1050" dirty="0">
              <a:solidFill>
                <a:srgbClr val="000000"/>
              </a:solidFill>
              <a:effectLst/>
              <a:latin typeface="Arial" pitchFamily="34" charset="0"/>
              <a:ea typeface="Calibri" panose="020F0502020204030204" pitchFamily="34" charset="0"/>
              <a:cs typeface="Arial" pitchFamily="34" charset="0"/>
            </a:endParaRPr>
          </a:p>
        </p:txBody>
      </p:sp>
      <p:sp>
        <p:nvSpPr>
          <p:cNvPr id="19" name="Rectangle 60"/>
          <p:cNvSpPr/>
          <p:nvPr/>
        </p:nvSpPr>
        <p:spPr>
          <a:xfrm>
            <a:off x="477169" y="4290909"/>
            <a:ext cx="5903662" cy="296710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haber culminado satisfactoriamente el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PROGRAMA </a:t>
            </a:r>
          </a:p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ESPECIALIZACIÓN en:</a:t>
            </a:r>
          </a:p>
          <a:p>
            <a:pPr algn="ctr">
              <a:spcBef>
                <a:spcPts val="600"/>
              </a:spcBef>
            </a:pPr>
            <a:r>
              <a:rPr lang="es-PE" sz="28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“</a:t>
            </a:r>
            <a:r>
              <a:rPr lang="es-MX" sz="28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{{TEMA_DIPLOMADO}}</a:t>
            </a:r>
            <a:r>
              <a:rPr lang="es-PE" sz="28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”</a:t>
            </a:r>
          </a:p>
          <a:p>
            <a:pPr algn="ctr">
              <a:spcBef>
                <a:spcPts val="600"/>
              </a:spcBef>
            </a:pP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Realizado desde el {{FECHA_INICIO}} hasta el 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{{FECHA_FIN}}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</a:t>
            </a:r>
            <a:r>
              <a:rPr lang="es-E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Resolución N° 0001-A-2022-DUPG/CC.SS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{{HORAS_ACADEMICAS}} horas académicas y {{CREDITOS_ACADEMICOS}} créditos académicos.</a:t>
            </a:r>
            <a:endParaRPr lang="es-PE" sz="1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s-PE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Por tanto, se expide el presente Programa de Especialización para que se le reconozca como tal.</a:t>
            </a:r>
          </a:p>
        </p:txBody>
      </p:sp>
      <p:sp>
        <p:nvSpPr>
          <p:cNvPr id="7" name="Rectángulo 6"/>
          <p:cNvSpPr/>
          <p:nvPr/>
        </p:nvSpPr>
        <p:spPr>
          <a:xfrm>
            <a:off x="3339591" y="7789439"/>
            <a:ext cx="3176336" cy="3039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3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Trujillo, </a:t>
            </a:r>
            <a:r>
              <a:rPr lang="es-ES" sz="1300" dirty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{{FECHA_EMISION_LARGA}}</a:t>
            </a:r>
            <a:endParaRPr lang="en-US" sz="1300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 19"/>
          <p:cNvSpPr/>
          <p:nvPr/>
        </p:nvSpPr>
        <p:spPr>
          <a:xfrm>
            <a:off x="1071040" y="3342633"/>
            <a:ext cx="5167704" cy="18466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415"/>
              </a:spcBef>
              <a:spcAft>
                <a:spcPts val="415"/>
              </a:spcAft>
            </a:pPr>
            <a:r>
              <a:rPr lang="es-PE" sz="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 </a:t>
            </a:r>
            <a:endParaRPr lang="en-US" sz="9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49" y="493030"/>
            <a:ext cx="944439" cy="944439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422" y="6958535"/>
            <a:ext cx="830904" cy="830904"/>
          </a:xfrm>
          <a:prstGeom prst="rect">
            <a:avLst/>
          </a:prstGeom>
        </p:spPr>
      </p:pic>
      <p:pic>
        <p:nvPicPr>
          <p:cNvPr id="5" name="Imagen 4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B5BB1BF5-8662-0033-FAA8-B89970F482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435" y="7803847"/>
            <a:ext cx="2813850" cy="121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70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>
            <a:fillRect/>
          </a:stretch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pic>
        <p:nvPicPr>
          <p:cNvPr id="14" name="Grifo"/>
          <p:cNvPicPr>
            <a:picLocks noChangeAspect="1"/>
          </p:cNvPicPr>
          <p:nvPr/>
        </p:nvPicPr>
        <p:blipFill rotWithShape="1"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619904" y="2645558"/>
            <a:ext cx="5273976" cy="3936266"/>
          </a:xfrm>
          <a:prstGeom prst="rect">
            <a:avLst/>
          </a:prstGeom>
        </p:spPr>
      </p:pic>
      <p:sp>
        <p:nvSpPr>
          <p:cNvPr id="19" name="CuadroTexto 18"/>
          <p:cNvSpPr txBox="1"/>
          <p:nvPr/>
        </p:nvSpPr>
        <p:spPr>
          <a:xfrm>
            <a:off x="763257" y="1272504"/>
            <a:ext cx="5331486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E" b="1" dirty="0">
                <a:latin typeface="Arial" pitchFamily="34" charset="0"/>
                <a:cs typeface="Arial" pitchFamily="34" charset="0"/>
              </a:rPr>
              <a:t>UNIVERSIDAD NACIONAL DE TRUJILLO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s-PE" sz="2500" b="1" dirty="0">
                <a:latin typeface="Arial Black" panose="020B0A04020102020204" pitchFamily="34" charset="0"/>
                <a:cs typeface="Arial" pitchFamily="34" charset="0"/>
              </a:rPr>
              <a:t>ESCUELA DE POSGRADO</a:t>
            </a:r>
          </a:p>
          <a:p>
            <a:pPr algn="ctr"/>
            <a:r>
              <a:rPr lang="es-PE" sz="1200" dirty="0">
                <a:latin typeface="Arial" pitchFamily="34" charset="0"/>
                <a:cs typeface="Arial" pitchFamily="34" charset="0"/>
              </a:rPr>
              <a:t>Unidad de Posgrado – Ciencias Sociales</a:t>
            </a:r>
            <a:endParaRPr lang="en-US" sz="12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s-MX" sz="1050" b="1" dirty="0">
                <a:latin typeface="Arial" pitchFamily="34" charset="0"/>
                <a:cs typeface="Arial" pitchFamily="34" charset="0"/>
              </a:rPr>
              <a:t>RESOLUCIÓN N°0001-A-2022 - DUPG/CC.SS.</a:t>
            </a:r>
            <a:endParaRPr lang="es-PE" sz="11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" name="Imagen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867" y="413581"/>
            <a:ext cx="944439" cy="944439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94" y="408167"/>
            <a:ext cx="944439" cy="944439"/>
          </a:xfrm>
          <a:prstGeom prst="rect">
            <a:avLst/>
          </a:prstGeom>
        </p:spPr>
      </p:pic>
      <p:pic>
        <p:nvPicPr>
          <p:cNvPr id="31" name="Imagen 3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" t="35647" r="1849" b="33893"/>
          <a:stretch>
            <a:fillRect/>
          </a:stretch>
        </p:blipFill>
        <p:spPr>
          <a:xfrm>
            <a:off x="1785990" y="302475"/>
            <a:ext cx="3271785" cy="1037653"/>
          </a:xfrm>
          <a:prstGeom prst="rect">
            <a:avLst/>
          </a:prstGeom>
        </p:spPr>
      </p:pic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64362"/>
              </p:ext>
            </p:extLst>
          </p:nvPr>
        </p:nvGraphicFramePr>
        <p:xfrm>
          <a:off x="619904" y="8314295"/>
          <a:ext cx="2286000" cy="1107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val="3672384949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3814524112"/>
                    </a:ext>
                  </a:extLst>
                </a:gridCol>
              </a:tblGrid>
              <a:tr h="536550">
                <a:tc>
                  <a:txBody>
                    <a:bodyPr/>
                    <a:lstStyle/>
                    <a:p>
                      <a:r>
                        <a:rPr lang="es-ES" sz="800" b="1" dirty="0"/>
                        <a:t>CÓDIGO: UNT-CCSS/2022 -</a:t>
                      </a:r>
                      <a:r>
                        <a:rPr lang="es-ES" sz="800" b="1" baseline="0" dirty="0"/>
                        <a:t> CC</a:t>
                      </a:r>
                      <a:endParaRPr lang="es-ES" sz="800" b="1" dirty="0"/>
                    </a:p>
                    <a:p>
                      <a:endParaRPr lang="es-ES" sz="700" b="1" dirty="0"/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" sz="800" b="1" dirty="0"/>
                        <a:t>REGISTRO: </a:t>
                      </a:r>
                      <a:r>
                        <a:rPr lang="es-ES" sz="800" b="0" baseline="0" dirty="0"/>
                        <a:t> </a:t>
                      </a:r>
                      <a:r>
                        <a:rPr lang="es-PE" sz="800" b="1" dirty="0"/>
                        <a:t>{{FOLIO_NUMERO}}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rowSpan="3"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4267907"/>
                  </a:ext>
                </a:extLst>
              </a:tr>
              <a:tr h="284426">
                <a:tc>
                  <a:txBody>
                    <a:bodyPr/>
                    <a:lstStyle/>
                    <a:p>
                      <a:r>
                        <a:rPr lang="es-ES" sz="800" b="1" dirty="0"/>
                        <a:t>LIBRO</a:t>
                      </a:r>
                      <a:r>
                        <a:rPr lang="es-ES" sz="800" b="1" baseline="0" dirty="0"/>
                        <a:t>:         01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916323"/>
                  </a:ext>
                </a:extLst>
              </a:tr>
              <a:tr h="259024">
                <a:tc>
                  <a:txBody>
                    <a:bodyPr/>
                    <a:lstStyle/>
                    <a:p>
                      <a:r>
                        <a:rPr lang="es-ES" sz="800" b="1" dirty="0"/>
                        <a:t>FIRMA: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422089"/>
                  </a:ext>
                </a:extLst>
              </a:tr>
            </a:tbl>
          </a:graphicData>
        </a:graphic>
      </p:graphicFrame>
      <p:pic>
        <p:nvPicPr>
          <p:cNvPr id="16" name="Imagen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361" y="7811375"/>
            <a:ext cx="830904" cy="830904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625786" y="2311617"/>
            <a:ext cx="562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>
                <a:latin typeface="Arial" pitchFamily="34" charset="0"/>
                <a:cs typeface="Arial" pitchFamily="34" charset="0"/>
              </a:rPr>
              <a:t>CERTIFICADO DE ESTUDIOS</a:t>
            </a:r>
          </a:p>
          <a:p>
            <a:r>
              <a:rPr lang="es-ES" sz="1400" b="1" dirty="0">
                <a:latin typeface="Arial" pitchFamily="34" charset="0"/>
                <a:cs typeface="Arial" pitchFamily="34" charset="0"/>
              </a:rPr>
              <a:t>PARTICIPANTE: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{{NOMBRE_COMPLETO_MINUSCULA}}</a:t>
            </a:r>
          </a:p>
          <a:p>
            <a:r>
              <a:rPr lang="es-ES" sz="1400" b="1" dirty="0">
                <a:latin typeface="Arial" pitchFamily="34" charset="0"/>
                <a:cs typeface="Arial" pitchFamily="34" charset="0"/>
              </a:rPr>
              <a:t>PROGRAMA DE ESPECIALIZACIÓN: </a:t>
            </a:r>
            <a:r>
              <a:rPr lang="es-PE" sz="1400" dirty="0">
                <a:latin typeface="Arial" pitchFamily="34" charset="0"/>
                <a:cs typeface="Arial" pitchFamily="34" charset="0"/>
              </a:rPr>
              <a:t>{{TEMA_DIPLOMADO}}</a:t>
            </a:r>
            <a:endParaRPr lang="es-PE" sz="1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64709F5-46FC-6829-C5AD-D71DB8A7509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22089" t="61284" r="63006" b="12845"/>
          <a:stretch/>
        </p:blipFill>
        <p:spPr>
          <a:xfrm>
            <a:off x="1107418" y="9085095"/>
            <a:ext cx="342861" cy="256725"/>
          </a:xfrm>
          <a:prstGeom prst="rect">
            <a:avLst/>
          </a:prstGeom>
        </p:spPr>
      </p:pic>
      <p:graphicFrame>
        <p:nvGraphicFramePr>
          <p:cNvPr id="24" name="Tabla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386519"/>
              </p:ext>
            </p:extLst>
          </p:nvPr>
        </p:nvGraphicFramePr>
        <p:xfrm>
          <a:off x="745017" y="3319125"/>
          <a:ext cx="5367967" cy="40645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501547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/>
                        <a:t>MÓDULO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TEMAS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HORAS ACADÉMICAS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/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/>
                        <a:t>{{MODULO_3}}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/>
                        <a:t>{{MODULO_4}}</a:t>
                      </a:r>
                      <a:endParaRPr lang="es-ES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/>
                        <a:t>{{MODULO_5}}</a:t>
                      </a:r>
                      <a:endParaRPr lang="es-ES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424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/>
                        <a:t>{{MODULO_6}}</a:t>
                      </a:r>
                      <a:endParaRPr lang="es-ES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523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VI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/>
                        <a:t>{{MODULO_7}}</a:t>
                      </a:r>
                      <a:endParaRPr lang="es-E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1263625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VI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/>
                        <a:t>{{MODULO_8}}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471729"/>
                  </a:ext>
                </a:extLst>
              </a:tr>
              <a:tr h="334454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1200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50" b="0" dirty="0"/>
                        <a:t>19</a:t>
                      </a:r>
                      <a:endParaRPr lang="en-US" sz="105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sp>
        <p:nvSpPr>
          <p:cNvPr id="3" name="CuadroTexto 1">
            <a:extLst>
              <a:ext uri="{FF2B5EF4-FFF2-40B4-BE49-F238E27FC236}">
                <a16:creationId xmlns:a16="http://schemas.microsoft.com/office/drawing/2014/main" id="{73FC219E-6E54-02C6-2D68-ED6FE3FBB5EC}"/>
              </a:ext>
            </a:extLst>
          </p:cNvPr>
          <p:cNvSpPr txBox="1"/>
          <p:nvPr/>
        </p:nvSpPr>
        <p:spPr>
          <a:xfrm>
            <a:off x="2905904" y="8314295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/>
              <a:t>{{QR_CODE}}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0832657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86318</TotalTime>
  <Words>279</Words>
  <Application>Microsoft Office PowerPoint</Application>
  <PresentationFormat>A4 (210 x 297 mm)</PresentationFormat>
  <Paragraphs>63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3" baseType="lpstr">
      <vt:lpstr>Adobe Garamond Pro Bold</vt:lpstr>
      <vt:lpstr>Arial</vt:lpstr>
      <vt:lpstr>Arial Black</vt:lpstr>
      <vt:lpstr>Bahnschrift</vt:lpstr>
      <vt:lpstr>Britannic Bold</vt:lpstr>
      <vt:lpstr>Calibri</vt:lpstr>
      <vt:lpstr>Calibri Light</vt:lpstr>
      <vt:lpstr>Cambria Math</vt:lpstr>
      <vt:lpstr>Old English Text MT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1217</cp:revision>
  <cp:lastPrinted>2026-01-08T17:39:28Z</cp:lastPrinted>
  <dcterms:created xsi:type="dcterms:W3CDTF">2018-11-06T14:43:46Z</dcterms:created>
  <dcterms:modified xsi:type="dcterms:W3CDTF">2026-01-29T15:54:10Z</dcterms:modified>
</cp:coreProperties>
</file>