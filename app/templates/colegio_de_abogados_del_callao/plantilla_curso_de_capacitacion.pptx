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82" r:id="rId2"/>
    <p:sldId id="283" r:id="rId3"/>
  </p:sldIdLst>
  <p:sldSz cx="9906000" cy="6858000" type="A4"/>
  <p:notesSz cx="10021888" cy="688975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97F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82" d="100"/>
          <a:sy n="82" d="100"/>
        </p:scale>
        <p:origin x="130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2/02/2026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521206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2/02/2026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811031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2/02/2026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4512347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2/02/2026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2140872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2/02/2026</a:t>
            </a:fld>
            <a:endParaRPr lang="es-P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9980545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2/02/2026</a:t>
            </a:fld>
            <a:endParaRPr lang="es-P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067069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2/02/2026</a:t>
            </a:fld>
            <a:endParaRPr lang="es-P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6299014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2/02/2026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072246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2/02/2026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174844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2/02/2026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623442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2/02/2026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5590597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5BCF65-E86E-467A-B19A-9BBB66F1E598}" type="datetimeFigureOut">
              <a:rPr lang="es-PE" smtClean="0"/>
              <a:t>2/02/2026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72210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hyperlink" Target="https://especializacionvirtual.com/validar-certificado/" TargetMode="External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F903E-CFFB-9E44-66C6-6D70D1017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Imagen 29">
            <a:extLst>
              <a:ext uri="{FF2B5EF4-FFF2-40B4-BE49-F238E27FC236}">
                <a16:creationId xmlns:a16="http://schemas.microsoft.com/office/drawing/2014/main" id="{E4CE971C-C2AC-F2EC-E075-BF31E56BAC02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</a:blip>
          <a:stretch>
            <a:fillRect/>
          </a:stretch>
        </p:blipFill>
        <p:spPr>
          <a:xfrm>
            <a:off x="2381409" y="726292"/>
            <a:ext cx="5092700" cy="4173175"/>
          </a:xfrm>
          <a:prstGeom prst="rect">
            <a:avLst/>
          </a:prstGeom>
        </p:spPr>
      </p:pic>
      <p:sp>
        <p:nvSpPr>
          <p:cNvPr id="6" name="Placa 5">
            <a:extLst>
              <a:ext uri="{FF2B5EF4-FFF2-40B4-BE49-F238E27FC236}">
                <a16:creationId xmlns:a16="http://schemas.microsoft.com/office/drawing/2014/main" id="{F0246BD0-2353-53FF-F15E-37FCD94B97DD}"/>
              </a:ext>
            </a:extLst>
          </p:cNvPr>
          <p:cNvSpPr/>
          <p:nvPr/>
        </p:nvSpPr>
        <p:spPr>
          <a:xfrm>
            <a:off x="134911" y="134912"/>
            <a:ext cx="9593706" cy="6565691"/>
          </a:xfrm>
          <a:prstGeom prst="plaque">
            <a:avLst>
              <a:gd name="adj" fmla="val 5543"/>
            </a:avLst>
          </a:prstGeom>
          <a:noFill/>
          <a:ln w="762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3ED8DED7-2C38-6820-4102-8B7888657D40}"/>
              </a:ext>
            </a:extLst>
          </p:cNvPr>
          <p:cNvSpPr txBox="1"/>
          <p:nvPr/>
        </p:nvSpPr>
        <p:spPr>
          <a:xfrm>
            <a:off x="3078156" y="712517"/>
            <a:ext cx="365677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4400" dirty="0">
                <a:latin typeface="Algerian" panose="04020705040A02060702" pitchFamily="82" charset="0"/>
              </a:rPr>
              <a:t>CERTIFICADO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159C20CF-4F7D-CABE-6193-1BB5871BA92C}"/>
              </a:ext>
            </a:extLst>
          </p:cNvPr>
          <p:cNvSpPr txBox="1"/>
          <p:nvPr/>
        </p:nvSpPr>
        <p:spPr>
          <a:xfrm>
            <a:off x="4252904" y="1305575"/>
            <a:ext cx="1400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dirty="0">
                <a:latin typeface="Franklin Gothic Demi Cond" panose="020B0706030402020204" pitchFamily="34" charset="0"/>
              </a:rPr>
              <a:t>OTORGADO A: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DBBC2EDB-EBF8-6457-ED53-A42DF6002084}"/>
              </a:ext>
            </a:extLst>
          </p:cNvPr>
          <p:cNvSpPr txBox="1"/>
          <p:nvPr/>
        </p:nvSpPr>
        <p:spPr>
          <a:xfrm>
            <a:off x="2493032" y="1544202"/>
            <a:ext cx="49199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sz="2800" dirty="0">
                <a:latin typeface="Britannic Bold" panose="020B0903060703020204" pitchFamily="34" charset="0"/>
              </a:rPr>
              <a:t>{{NOMBRES}} {{APELLIDOS}}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D1A67D06-10F2-D0B5-2DE1-F3049EF0F799}"/>
              </a:ext>
            </a:extLst>
          </p:cNvPr>
          <p:cNvSpPr txBox="1"/>
          <p:nvPr/>
        </p:nvSpPr>
        <p:spPr>
          <a:xfrm>
            <a:off x="-77961" y="1955637"/>
            <a:ext cx="10061922" cy="21852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b="1" dirty="0"/>
              <a:t>Por haber culminado satisfactoriamente el CURSO </a:t>
            </a:r>
          </a:p>
          <a:p>
            <a:pPr algn="ctr"/>
            <a:r>
              <a:rPr lang="es-PE" b="1" dirty="0"/>
              <a:t>DE CAPACITACIÓN en :</a:t>
            </a:r>
            <a:endParaRPr lang="es-PE" sz="600" b="1" dirty="0"/>
          </a:p>
          <a:p>
            <a:pPr algn="ctr"/>
            <a:r>
              <a:rPr lang="es-PE" sz="2800" dirty="0">
                <a:latin typeface="Britannic Bold" panose="020B0903060703020204" pitchFamily="34" charset="0"/>
              </a:rPr>
              <a:t>“</a:t>
            </a:r>
            <a:r>
              <a:rPr lang="es-ES" sz="2800" dirty="0">
                <a:latin typeface="Britannic Bold" panose="020B0903060703020204" pitchFamily="34" charset="0"/>
              </a:rPr>
              <a:t>{{TEMA_DIPLOMADO}}</a:t>
            </a:r>
            <a:r>
              <a:rPr lang="es-PE" sz="2800" dirty="0">
                <a:latin typeface="Britannic Bold" panose="020B0903060703020204" pitchFamily="34" charset="0"/>
              </a:rPr>
              <a:t>”</a:t>
            </a:r>
          </a:p>
          <a:p>
            <a:pPr algn="ctr"/>
            <a:r>
              <a:rPr lang="es-PE" b="1" dirty="0"/>
              <a:t>Realizado del {{FECHA_INICIO}} al {{FECHA_FIN}}, con una</a:t>
            </a:r>
          </a:p>
          <a:p>
            <a:pPr algn="ctr"/>
            <a:r>
              <a:rPr lang="es-PE" b="1" dirty="0"/>
              <a:t>duración de {{HORAS_ACADEMICAS}} horas lectivas y {{CREDITOS_ACADEMICOS}} créditos académicos.</a:t>
            </a:r>
          </a:p>
          <a:p>
            <a:pPr algn="ctr"/>
            <a:r>
              <a:rPr lang="es-PE" b="1" dirty="0"/>
              <a:t>Por tanto, se expide el presente Certificado, otorgándole los</a:t>
            </a:r>
          </a:p>
          <a:p>
            <a:pPr algn="ctr"/>
            <a:r>
              <a:rPr lang="es-PE" b="1" dirty="0"/>
              <a:t>privilegios y consideraciones que le corresponden.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C922BB6B-FC6C-B93A-97FB-548A5CAE37FC}"/>
              </a:ext>
            </a:extLst>
          </p:cNvPr>
          <p:cNvSpPr txBox="1"/>
          <p:nvPr/>
        </p:nvSpPr>
        <p:spPr>
          <a:xfrm>
            <a:off x="5888340" y="4292258"/>
            <a:ext cx="3629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s-PE" b="1" dirty="0"/>
              <a:t>Trujillo, {{FECHA_EMISION_LARGA}}</a:t>
            </a:r>
          </a:p>
        </p:txBody>
      </p:sp>
      <p:pic>
        <p:nvPicPr>
          <p:cNvPr id="23" name="Imagen 22">
            <a:extLst>
              <a:ext uri="{FF2B5EF4-FFF2-40B4-BE49-F238E27FC236}">
                <a16:creationId xmlns:a16="http://schemas.microsoft.com/office/drawing/2014/main" id="{6C46CD80-D302-3BD4-A829-49A114B212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92" y="228977"/>
            <a:ext cx="2957853" cy="758326"/>
          </a:xfrm>
          <a:prstGeom prst="rect">
            <a:avLst/>
          </a:prstGeom>
        </p:spPr>
      </p:pic>
      <p:sp>
        <p:nvSpPr>
          <p:cNvPr id="32" name="CuadroTexto 31">
            <a:extLst>
              <a:ext uri="{FF2B5EF4-FFF2-40B4-BE49-F238E27FC236}">
                <a16:creationId xmlns:a16="http://schemas.microsoft.com/office/drawing/2014/main" id="{503942BF-09E6-F208-7AB4-8E1D7FBDC564}"/>
              </a:ext>
            </a:extLst>
          </p:cNvPr>
          <p:cNvSpPr txBox="1"/>
          <p:nvPr/>
        </p:nvSpPr>
        <p:spPr>
          <a:xfrm>
            <a:off x="6650850" y="967851"/>
            <a:ext cx="2642070" cy="4308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INSTITUCIÓN EDUCATIVA</a:t>
            </a:r>
          </a:p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ACADÉMICA Y SOCIAL BERLÍN SRL</a:t>
            </a:r>
          </a:p>
        </p:txBody>
      </p:sp>
      <p:pic>
        <p:nvPicPr>
          <p:cNvPr id="24" name="Picture 2" descr="Colegio de Abogados del Callao">
            <a:extLst>
              <a:ext uri="{FF2B5EF4-FFF2-40B4-BE49-F238E27FC236}">
                <a16:creationId xmlns:a16="http://schemas.microsoft.com/office/drawing/2014/main" id="{2CE80D91-3EAE-6651-460D-23A397AD8A5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0" b="100000" l="0" r="89296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59623"/>
          <a:stretch/>
        </p:blipFill>
        <p:spPr bwMode="auto">
          <a:xfrm>
            <a:off x="562598" y="365348"/>
            <a:ext cx="808292" cy="757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CuadroTexto 25">
            <a:extLst>
              <a:ext uri="{FF2B5EF4-FFF2-40B4-BE49-F238E27FC236}">
                <a16:creationId xmlns:a16="http://schemas.microsoft.com/office/drawing/2014/main" id="{05B4DE75-7C68-3888-3DE0-C47E4A5DC96E}"/>
              </a:ext>
            </a:extLst>
          </p:cNvPr>
          <p:cNvSpPr txBox="1"/>
          <p:nvPr/>
        </p:nvSpPr>
        <p:spPr>
          <a:xfrm>
            <a:off x="782886" y="1090486"/>
            <a:ext cx="172566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300" b="1" dirty="0"/>
              <a:t>R.D N° 321-2025 - CAC</a:t>
            </a:r>
          </a:p>
        </p:txBody>
      </p:sp>
      <p:pic>
        <p:nvPicPr>
          <p:cNvPr id="27" name="Imagen 26">
            <a:extLst>
              <a:ext uri="{FF2B5EF4-FFF2-40B4-BE49-F238E27FC236}">
                <a16:creationId xmlns:a16="http://schemas.microsoft.com/office/drawing/2014/main" id="{F1616924-A506-8D0B-2433-7BA550D12F9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9304" y="152787"/>
            <a:ext cx="1329171" cy="1329171"/>
          </a:xfrm>
          <a:prstGeom prst="rect">
            <a:avLst/>
          </a:prstGeom>
        </p:spPr>
      </p:pic>
      <p:cxnSp>
        <p:nvCxnSpPr>
          <p:cNvPr id="25" name="Conector recto 24">
            <a:extLst>
              <a:ext uri="{FF2B5EF4-FFF2-40B4-BE49-F238E27FC236}">
                <a16:creationId xmlns:a16="http://schemas.microsoft.com/office/drawing/2014/main" id="{C4D41FC0-F46A-0621-048D-44EC7F544EB1}"/>
              </a:ext>
            </a:extLst>
          </p:cNvPr>
          <p:cNvCxnSpPr/>
          <p:nvPr/>
        </p:nvCxnSpPr>
        <p:spPr>
          <a:xfrm flipV="1">
            <a:off x="937973" y="5807352"/>
            <a:ext cx="3645700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CuadroTexto 27">
            <a:extLst>
              <a:ext uri="{FF2B5EF4-FFF2-40B4-BE49-F238E27FC236}">
                <a16:creationId xmlns:a16="http://schemas.microsoft.com/office/drawing/2014/main" id="{39D1E843-2090-ADCE-8385-7B9F6600167D}"/>
              </a:ext>
            </a:extLst>
          </p:cNvPr>
          <p:cNvSpPr txBox="1"/>
          <p:nvPr/>
        </p:nvSpPr>
        <p:spPr>
          <a:xfrm>
            <a:off x="1385326" y="5807352"/>
            <a:ext cx="2674130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500" b="1" dirty="0">
                <a:latin typeface="Century Gothic" panose="020B0502020202020204" pitchFamily="34" charset="0"/>
              </a:rPr>
              <a:t>EDGARD LUIS MITTA CURAY</a:t>
            </a: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A5E30F08-72BA-B3BA-7E72-C821743FADF6}"/>
              </a:ext>
            </a:extLst>
          </p:cNvPr>
          <p:cNvSpPr txBox="1"/>
          <p:nvPr/>
        </p:nvSpPr>
        <p:spPr>
          <a:xfrm>
            <a:off x="2271507" y="6098232"/>
            <a:ext cx="9813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400" b="1" dirty="0">
                <a:latin typeface="Century Gothic" panose="020B0502020202020204" pitchFamily="34" charset="0"/>
              </a:rPr>
              <a:t>DECANO</a:t>
            </a: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11AB0915-6C0B-B408-E3A2-B8DABC4D6706}"/>
              </a:ext>
            </a:extLst>
          </p:cNvPr>
          <p:cNvSpPr txBox="1"/>
          <p:nvPr/>
        </p:nvSpPr>
        <p:spPr>
          <a:xfrm>
            <a:off x="1530276" y="6362394"/>
            <a:ext cx="25059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sz="1400" b="1" dirty="0"/>
              <a:t>Colegio de Abogados del Callao</a:t>
            </a:r>
          </a:p>
        </p:txBody>
      </p:sp>
      <p:cxnSp>
        <p:nvCxnSpPr>
          <p:cNvPr id="31" name="Conector recto 30">
            <a:extLst>
              <a:ext uri="{FF2B5EF4-FFF2-40B4-BE49-F238E27FC236}">
                <a16:creationId xmlns:a16="http://schemas.microsoft.com/office/drawing/2014/main" id="{734087D3-3BC3-29E0-271D-54970541A6BF}"/>
              </a:ext>
            </a:extLst>
          </p:cNvPr>
          <p:cNvCxnSpPr/>
          <p:nvPr/>
        </p:nvCxnSpPr>
        <p:spPr>
          <a:xfrm flipV="1">
            <a:off x="5739550" y="5800034"/>
            <a:ext cx="3036388" cy="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CuadroTexto 33">
            <a:extLst>
              <a:ext uri="{FF2B5EF4-FFF2-40B4-BE49-F238E27FC236}">
                <a16:creationId xmlns:a16="http://schemas.microsoft.com/office/drawing/2014/main" id="{6D738D43-0190-9B70-3226-049325D2EB60}"/>
              </a:ext>
            </a:extLst>
          </p:cNvPr>
          <p:cNvSpPr txBox="1"/>
          <p:nvPr/>
        </p:nvSpPr>
        <p:spPr>
          <a:xfrm>
            <a:off x="5430149" y="6129758"/>
            <a:ext cx="36656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sz="1400" dirty="0">
                <a:latin typeface="Bernard MT Condensed" panose="02050806060905020404" pitchFamily="18" charset="0"/>
              </a:rPr>
              <a:t>DIRECTOR ACADÉMICO</a:t>
            </a:r>
          </a:p>
          <a:p>
            <a:pPr algn="ctr"/>
            <a:r>
              <a:rPr lang="es-PE" sz="1400" b="1" dirty="0"/>
              <a:t>Institución Educativa Académica y Social Berlín</a:t>
            </a: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D71CDE20-3D91-8C02-1399-74C87C7C0B8C}"/>
              </a:ext>
            </a:extLst>
          </p:cNvPr>
          <p:cNvSpPr txBox="1"/>
          <p:nvPr/>
        </p:nvSpPr>
        <p:spPr>
          <a:xfrm>
            <a:off x="5739550" y="5834349"/>
            <a:ext cx="30540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400" dirty="0">
                <a:latin typeface="Bodoni Bd BT" panose="02070803080706020303" pitchFamily="18" charset="0"/>
              </a:rPr>
              <a:t>CHRISTIAAN QUIÑONES CARLOS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80859433-7692-EB97-7C9F-A4EC0AEEC7B9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46990"/>
          <a:stretch/>
        </p:blipFill>
        <p:spPr>
          <a:xfrm>
            <a:off x="5450367" y="4813724"/>
            <a:ext cx="3632406" cy="1550882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4C4207E0-3385-F954-9F74-B54C91B2525A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t="6932" b="16121"/>
          <a:stretch/>
        </p:blipFill>
        <p:spPr>
          <a:xfrm>
            <a:off x="800538" y="4722888"/>
            <a:ext cx="4143138" cy="1710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9653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BD54F-C427-2E75-E004-299324F93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Imagen 31">
            <a:extLst>
              <a:ext uri="{FF2B5EF4-FFF2-40B4-BE49-F238E27FC236}">
                <a16:creationId xmlns:a16="http://schemas.microsoft.com/office/drawing/2014/main" id="{C5DADC49-6FE7-C225-3327-419CF302F4A3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</a:blip>
          <a:stretch>
            <a:fillRect/>
          </a:stretch>
        </p:blipFill>
        <p:spPr>
          <a:xfrm>
            <a:off x="1678074" y="1071736"/>
            <a:ext cx="6460361" cy="5293895"/>
          </a:xfrm>
          <a:prstGeom prst="rect">
            <a:avLst/>
          </a:prstGeom>
        </p:spPr>
      </p:pic>
      <p:sp>
        <p:nvSpPr>
          <p:cNvPr id="6" name="Placa 5">
            <a:extLst>
              <a:ext uri="{FF2B5EF4-FFF2-40B4-BE49-F238E27FC236}">
                <a16:creationId xmlns:a16="http://schemas.microsoft.com/office/drawing/2014/main" id="{67915064-4DAF-ED9F-6835-944E37B32096}"/>
              </a:ext>
            </a:extLst>
          </p:cNvPr>
          <p:cNvSpPr/>
          <p:nvPr/>
        </p:nvSpPr>
        <p:spPr>
          <a:xfrm>
            <a:off x="134911" y="134912"/>
            <a:ext cx="9593706" cy="6565691"/>
          </a:xfrm>
          <a:prstGeom prst="plaque">
            <a:avLst>
              <a:gd name="adj" fmla="val 5543"/>
            </a:avLst>
          </a:prstGeom>
          <a:noFill/>
          <a:ln w="762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graphicFrame>
        <p:nvGraphicFramePr>
          <p:cNvPr id="20" name="Tabla 19">
            <a:extLst>
              <a:ext uri="{FF2B5EF4-FFF2-40B4-BE49-F238E27FC236}">
                <a16:creationId xmlns:a16="http://schemas.microsoft.com/office/drawing/2014/main" id="{B944E0CD-62BE-33E6-5F65-502BDB2F45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5377269"/>
              </p:ext>
            </p:extLst>
          </p:nvPr>
        </p:nvGraphicFramePr>
        <p:xfrm>
          <a:off x="242508" y="2467252"/>
          <a:ext cx="3034092" cy="1820685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992344">
                  <a:extLst>
                    <a:ext uri="{9D8B030D-6E8A-4147-A177-3AD203B41FA5}">
                      <a16:colId xmlns:a16="http://schemas.microsoft.com/office/drawing/2014/main" val="3956221826"/>
                    </a:ext>
                  </a:extLst>
                </a:gridCol>
                <a:gridCol w="2041748">
                  <a:extLst>
                    <a:ext uri="{9D8B030D-6E8A-4147-A177-3AD203B41FA5}">
                      <a16:colId xmlns:a16="http://schemas.microsoft.com/office/drawing/2014/main" val="3056520887"/>
                    </a:ext>
                  </a:extLst>
                </a:gridCol>
              </a:tblGrid>
              <a:tr h="364137">
                <a:tc gridSpan="2">
                  <a:txBody>
                    <a:bodyPr/>
                    <a:lstStyle/>
                    <a:p>
                      <a:pPr algn="ctr"/>
                      <a:r>
                        <a:rPr lang="es-PE" sz="11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REGISTRO</a:t>
                      </a:r>
                    </a:p>
                  </a:txBody>
                  <a:tcPr marL="190782" marR="190782" marT="95391" marB="95391">
                    <a:solidFill>
                      <a:schemeClr val="bg2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P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817205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LIBRO N°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050" dirty="0"/>
                        <a:t>001</a:t>
                      </a: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679814925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FOLIO N°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050" dirty="0"/>
                        <a:t>{{FOLIO_NUMERO}} –</a:t>
                      </a:r>
                      <a:r>
                        <a:rPr lang="es-PE" sz="1050" baseline="0" dirty="0"/>
                        <a:t> </a:t>
                      </a:r>
                      <a:r>
                        <a:rPr lang="es-PE" sz="1050" dirty="0"/>
                        <a:t>CAC</a:t>
                      </a: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4085477436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FECHA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050" dirty="0"/>
                        <a:t>{{FECHA_EMISION_CORTA}}</a:t>
                      </a: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592299900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FIRMA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algn="ctr"/>
                      <a:endParaRPr lang="es-PE" sz="1050" dirty="0"/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297285177"/>
                  </a:ext>
                </a:extLst>
              </a:tr>
            </a:tbl>
          </a:graphicData>
        </a:graphic>
      </p:graphicFrame>
      <p:grpSp>
        <p:nvGrpSpPr>
          <p:cNvPr id="16" name="Grupo 15">
            <a:extLst>
              <a:ext uri="{FF2B5EF4-FFF2-40B4-BE49-F238E27FC236}">
                <a16:creationId xmlns:a16="http://schemas.microsoft.com/office/drawing/2014/main" id="{32639223-9EBE-C60B-95DE-B5841D8706FB}"/>
              </a:ext>
            </a:extLst>
          </p:cNvPr>
          <p:cNvGrpSpPr/>
          <p:nvPr/>
        </p:nvGrpSpPr>
        <p:grpSpPr>
          <a:xfrm>
            <a:off x="611025" y="6123667"/>
            <a:ext cx="2297657" cy="437033"/>
            <a:chOff x="4281274" y="8807352"/>
            <a:chExt cx="2297657" cy="437033"/>
          </a:xfrm>
        </p:grpSpPr>
        <p:sp>
          <p:nvSpPr>
            <p:cNvPr id="18" name="Rectángulo 17">
              <a:extLst>
                <a:ext uri="{FF2B5EF4-FFF2-40B4-BE49-F238E27FC236}">
                  <a16:creationId xmlns:a16="http://schemas.microsoft.com/office/drawing/2014/main" id="{686E3E86-9A63-BC3D-CEEF-A6BFE2EA8C25}"/>
                </a:ext>
              </a:extLst>
            </p:cNvPr>
            <p:cNvSpPr/>
            <p:nvPr/>
          </p:nvSpPr>
          <p:spPr>
            <a:xfrm>
              <a:off x="4312624" y="8807352"/>
              <a:ext cx="2213928" cy="43703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734772C3-D65F-9EEC-AA63-4F44FA85AB59}"/>
                </a:ext>
              </a:extLst>
            </p:cNvPr>
            <p:cNvSpPr txBox="1"/>
            <p:nvPr/>
          </p:nvSpPr>
          <p:spPr>
            <a:xfrm>
              <a:off x="4281274" y="8809560"/>
              <a:ext cx="2297657" cy="3924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PE" sz="650" b="1" dirty="0"/>
                <a:t>PARA POSTERIOR VERIFICACIÓN DE ESTE CERTIFICADO SE PUEDE REALIZAR INGRESANDO EL CÓDIGO DEL ESTUDIANTE EN: </a:t>
              </a:r>
              <a:r>
                <a:rPr lang="es-PE" sz="650" b="1" dirty="0">
                  <a:hlinkClick r:id="rId3"/>
                </a:rPr>
                <a:t>https://especializacionvirtual.com/validar-certificado/</a:t>
              </a:r>
              <a:r>
                <a:rPr lang="es-PE" sz="650" b="1" dirty="0"/>
                <a:t> </a:t>
              </a:r>
            </a:p>
          </p:txBody>
        </p:sp>
      </p:grpSp>
      <p:sp>
        <p:nvSpPr>
          <p:cNvPr id="21" name="Rectángulo 20">
            <a:extLst>
              <a:ext uri="{FF2B5EF4-FFF2-40B4-BE49-F238E27FC236}">
                <a16:creationId xmlns:a16="http://schemas.microsoft.com/office/drawing/2014/main" id="{EA23FF2C-CCB1-4E12-6246-321FF9E9AE06}"/>
              </a:ext>
            </a:extLst>
          </p:cNvPr>
          <p:cNvSpPr/>
          <p:nvPr/>
        </p:nvSpPr>
        <p:spPr>
          <a:xfrm>
            <a:off x="717736" y="5737281"/>
            <a:ext cx="2130198" cy="3667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spcBef>
                <a:spcPts val="59"/>
              </a:spcBef>
            </a:pPr>
            <a:r>
              <a:rPr lang="es-PE" sz="9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CÓDIGO ESTUDIANTE:</a:t>
            </a:r>
          </a:p>
          <a:p>
            <a:pPr lvl="0" algn="ctr">
              <a:spcBef>
                <a:spcPts val="59"/>
              </a:spcBef>
            </a:pPr>
            <a:endParaRPr lang="en-US" sz="800" b="1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3" name="Tabla 22">
            <a:extLst>
              <a:ext uri="{FF2B5EF4-FFF2-40B4-BE49-F238E27FC236}">
                <a16:creationId xmlns:a16="http://schemas.microsoft.com/office/drawing/2014/main" id="{A81B7CB1-8F7F-EA8F-9B17-7578C3433005}"/>
              </a:ext>
            </a:extLst>
          </p:cNvPr>
          <p:cNvGraphicFramePr>
            <a:graphicFrameLocks noGrp="1"/>
          </p:cNvGraphicFramePr>
          <p:nvPr/>
        </p:nvGraphicFramePr>
        <p:xfrm>
          <a:off x="3329941" y="1604300"/>
          <a:ext cx="6297399" cy="434622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6297399">
                  <a:extLst>
                    <a:ext uri="{9D8B030D-6E8A-4147-A177-3AD203B41FA5}">
                      <a16:colId xmlns:a16="http://schemas.microsoft.com/office/drawing/2014/main" val="335546556"/>
                    </a:ext>
                  </a:extLst>
                </a:gridCol>
              </a:tblGrid>
              <a:tr h="308522">
                <a:tc>
                  <a:txBody>
                    <a:bodyPr/>
                    <a:lstStyle/>
                    <a:p>
                      <a:pPr algn="ctr"/>
                      <a:r>
                        <a:rPr lang="es-PE" sz="1600" u="none" dirty="0"/>
                        <a:t>TEMARIO</a:t>
                      </a:r>
                      <a:endParaRPr lang="es-PE" sz="1600" u="none" baseline="0" dirty="0">
                        <a:latin typeface="Arial Black" panose="020B0A04020102020204" pitchFamily="34" charset="0"/>
                      </a:endParaRPr>
                    </a:p>
                  </a:txBody>
                  <a:tcPr marL="190782" marR="190782" marT="95391" marB="953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34874865"/>
                  </a:ext>
                </a:extLst>
              </a:tr>
            </a:tbl>
          </a:graphicData>
        </a:graphic>
      </p:graphicFrame>
      <p:graphicFrame>
        <p:nvGraphicFramePr>
          <p:cNvPr id="25" name="Tabla 24">
            <a:extLst>
              <a:ext uri="{FF2B5EF4-FFF2-40B4-BE49-F238E27FC236}">
                <a16:creationId xmlns:a16="http://schemas.microsoft.com/office/drawing/2014/main" id="{2BEFD275-6BE4-1317-B22B-C737F9F622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5525168"/>
              </p:ext>
            </p:extLst>
          </p:nvPr>
        </p:nvGraphicFramePr>
        <p:xfrm>
          <a:off x="3329941" y="2029129"/>
          <a:ext cx="6297400" cy="1646685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2815911">
                  <a:extLst>
                    <a:ext uri="{9D8B030D-6E8A-4147-A177-3AD203B41FA5}">
                      <a16:colId xmlns:a16="http://schemas.microsoft.com/office/drawing/2014/main" val="3108834388"/>
                    </a:ext>
                  </a:extLst>
                </a:gridCol>
                <a:gridCol w="3481489">
                  <a:extLst>
                    <a:ext uri="{9D8B030D-6E8A-4147-A177-3AD203B41FA5}">
                      <a16:colId xmlns:a16="http://schemas.microsoft.com/office/drawing/2014/main" val="1484549653"/>
                    </a:ext>
                  </a:extLst>
                </a:gridCol>
              </a:tblGrid>
              <a:tr h="269517">
                <a:tc>
                  <a:txBody>
                    <a:bodyPr/>
                    <a:lstStyle/>
                    <a:p>
                      <a:pPr algn="ctr"/>
                      <a:r>
                        <a:rPr lang="es-PE" sz="1150" b="0" dirty="0"/>
                        <a:t>MÓDULO</a:t>
                      </a:r>
                      <a:r>
                        <a:rPr lang="es-PE" sz="1150" b="0" baseline="0" dirty="0"/>
                        <a:t> I</a:t>
                      </a:r>
                      <a:endParaRPr lang="en-US" sz="115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50" b="0" i="0" dirty="0"/>
                        <a:t>{{MODULO_1}}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180495"/>
                  </a:ext>
                </a:extLst>
              </a:tr>
              <a:tr h="269517">
                <a:tc>
                  <a:txBody>
                    <a:bodyPr/>
                    <a:lstStyle/>
                    <a:p>
                      <a:pPr algn="ctr"/>
                      <a:r>
                        <a:rPr lang="es-PE" sz="1150" b="0" dirty="0"/>
                        <a:t>MÓDULO</a:t>
                      </a:r>
                      <a:r>
                        <a:rPr lang="es-PE" sz="1150" b="0" baseline="0" dirty="0"/>
                        <a:t> II</a:t>
                      </a:r>
                      <a:endParaRPr lang="en-US" sz="115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50" b="0" i="0" dirty="0"/>
                        <a:t>{{MODULO_2}}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80852981"/>
                  </a:ext>
                </a:extLst>
              </a:tr>
              <a:tr h="449195">
                <a:tc>
                  <a:txBody>
                    <a:bodyPr/>
                    <a:lstStyle/>
                    <a:p>
                      <a:pPr algn="ctr"/>
                      <a:r>
                        <a:rPr lang="es-PE" sz="1150" b="0" dirty="0"/>
                        <a:t>MÓDULO</a:t>
                      </a:r>
                      <a:r>
                        <a:rPr lang="es-PE" sz="1150" b="0" baseline="0" dirty="0"/>
                        <a:t> III</a:t>
                      </a:r>
                      <a:endParaRPr lang="en-US" sz="115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150" b="0" i="0" dirty="0"/>
                        <a:t>{{MODULO_3}}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2501331"/>
                  </a:ext>
                </a:extLst>
              </a:tr>
              <a:tr h="294109">
                <a:tc>
                  <a:txBody>
                    <a:bodyPr/>
                    <a:lstStyle/>
                    <a:p>
                      <a:pPr algn="ctr"/>
                      <a:r>
                        <a:rPr lang="es-PE" sz="1150" b="0" dirty="0"/>
                        <a:t>MÓDULO IV</a:t>
                      </a:r>
                      <a:endParaRPr lang="en-US" sz="115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150" b="0" i="0" dirty="0"/>
                        <a:t>{{MODULO_4}}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61531471"/>
                  </a:ext>
                </a:extLst>
              </a:tr>
              <a:tr h="364347">
                <a:tc>
                  <a:txBody>
                    <a:bodyPr/>
                    <a:lstStyle/>
                    <a:p>
                      <a:pPr algn="ctr"/>
                      <a:r>
                        <a:rPr lang="es-PE" sz="1150" b="0" dirty="0"/>
                        <a:t>MÓDULO</a:t>
                      </a:r>
                      <a:r>
                        <a:rPr lang="es-PE" sz="1150" b="0" baseline="0" dirty="0"/>
                        <a:t> V</a:t>
                      </a:r>
                      <a:endParaRPr lang="en-US" sz="115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150" b="0" i="0" dirty="0"/>
                        <a:t>{{MODULO_5}}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4236312"/>
                  </a:ext>
                </a:extLst>
              </a:tr>
            </a:tbl>
          </a:graphicData>
        </a:graphic>
      </p:graphicFrame>
      <p:pic>
        <p:nvPicPr>
          <p:cNvPr id="17" name="Imagen 16">
            <a:extLst>
              <a:ext uri="{FF2B5EF4-FFF2-40B4-BE49-F238E27FC236}">
                <a16:creationId xmlns:a16="http://schemas.microsoft.com/office/drawing/2014/main" id="{E10ABB14-2BAE-E5E0-36BD-E947986DA2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9092" y="228977"/>
            <a:ext cx="2957853" cy="758326"/>
          </a:xfrm>
          <a:prstGeom prst="rect">
            <a:avLst/>
          </a:prstGeom>
        </p:spPr>
      </p:pic>
      <p:sp>
        <p:nvSpPr>
          <p:cNvPr id="28" name="CuadroTexto 27">
            <a:extLst>
              <a:ext uri="{FF2B5EF4-FFF2-40B4-BE49-F238E27FC236}">
                <a16:creationId xmlns:a16="http://schemas.microsoft.com/office/drawing/2014/main" id="{4B45ADB4-94CF-66E2-CD1B-040B6FE98A48}"/>
              </a:ext>
            </a:extLst>
          </p:cNvPr>
          <p:cNvSpPr txBox="1"/>
          <p:nvPr/>
        </p:nvSpPr>
        <p:spPr>
          <a:xfrm>
            <a:off x="6650850" y="967851"/>
            <a:ext cx="2642070" cy="4308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INSTITUCIÓN EDUCATIVA</a:t>
            </a:r>
          </a:p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ACADÉMICA Y SOCIAL BERLÍN SRL</a:t>
            </a:r>
          </a:p>
        </p:txBody>
      </p:sp>
      <p:pic>
        <p:nvPicPr>
          <p:cNvPr id="24" name="Picture 2" descr="Colegio de Abogados del Callao">
            <a:extLst>
              <a:ext uri="{FF2B5EF4-FFF2-40B4-BE49-F238E27FC236}">
                <a16:creationId xmlns:a16="http://schemas.microsoft.com/office/drawing/2014/main" id="{3AF6AFE4-7D0A-D32B-58B1-268A65A4BBD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0" b="100000" l="0" r="89296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59623"/>
          <a:stretch/>
        </p:blipFill>
        <p:spPr bwMode="auto">
          <a:xfrm>
            <a:off x="562598" y="365348"/>
            <a:ext cx="808292" cy="757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CuadroTexto 25">
            <a:extLst>
              <a:ext uri="{FF2B5EF4-FFF2-40B4-BE49-F238E27FC236}">
                <a16:creationId xmlns:a16="http://schemas.microsoft.com/office/drawing/2014/main" id="{C3E41BDB-8304-4737-4DBB-1D53FE3A6A07}"/>
              </a:ext>
            </a:extLst>
          </p:cNvPr>
          <p:cNvSpPr txBox="1"/>
          <p:nvPr/>
        </p:nvSpPr>
        <p:spPr>
          <a:xfrm>
            <a:off x="782886" y="1090486"/>
            <a:ext cx="172566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300" b="1" dirty="0"/>
              <a:t>R.D N° 321-2025 - CAC</a:t>
            </a:r>
          </a:p>
        </p:txBody>
      </p:sp>
      <p:pic>
        <p:nvPicPr>
          <p:cNvPr id="31" name="Imagen 30">
            <a:extLst>
              <a:ext uri="{FF2B5EF4-FFF2-40B4-BE49-F238E27FC236}">
                <a16:creationId xmlns:a16="http://schemas.microsoft.com/office/drawing/2014/main" id="{CC83CCE5-0760-FCA4-6B75-08CAE27748B5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9304" y="152787"/>
            <a:ext cx="1329171" cy="1329171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10338C6F-31F6-8BB3-8CB7-A16C340500E7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b="4802"/>
          <a:stretch/>
        </p:blipFill>
        <p:spPr>
          <a:xfrm>
            <a:off x="1497313" y="3964120"/>
            <a:ext cx="408860" cy="285334"/>
          </a:xfrm>
          <a:prstGeom prst="rect">
            <a:avLst/>
          </a:prstGeom>
        </p:spPr>
      </p:pic>
      <p:sp>
        <p:nvSpPr>
          <p:cNvPr id="3" name="CuadroTexto 1">
            <a:extLst>
              <a:ext uri="{FF2B5EF4-FFF2-40B4-BE49-F238E27FC236}">
                <a16:creationId xmlns:a16="http://schemas.microsoft.com/office/drawing/2014/main" id="{73FC219E-6E54-02C6-2D68-ED6FE3FBB5EC}"/>
              </a:ext>
            </a:extLst>
          </p:cNvPr>
          <p:cNvSpPr txBox="1"/>
          <p:nvPr/>
        </p:nvSpPr>
        <p:spPr>
          <a:xfrm>
            <a:off x="1291307" y="4448980"/>
            <a:ext cx="1397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PE" dirty="0"/>
              <a:t>{{QR_CODE}}</a:t>
            </a:r>
          </a:p>
        </p:txBody>
      </p:sp>
    </p:spTree>
    <p:extLst>
      <p:ext uri="{BB962C8B-B14F-4D97-AF65-F5344CB8AC3E}">
        <p14:creationId xmlns:p14="http://schemas.microsoft.com/office/powerpoint/2010/main" val="169271712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200071</TotalTime>
  <Words>230</Words>
  <Application>Microsoft Office PowerPoint</Application>
  <PresentationFormat>A4 (210 x 297 mm)</PresentationFormat>
  <Paragraphs>45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12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15" baseType="lpstr">
      <vt:lpstr>Algerian</vt:lpstr>
      <vt:lpstr>Arial</vt:lpstr>
      <vt:lpstr>Arial Black</vt:lpstr>
      <vt:lpstr>Arial Rounded MT Bold</vt:lpstr>
      <vt:lpstr>Bernard MT Condensed</vt:lpstr>
      <vt:lpstr>Bodoni Bd BT</vt:lpstr>
      <vt:lpstr>Britannic Bold</vt:lpstr>
      <vt:lpstr>Calibri</vt:lpstr>
      <vt:lpstr>Calibri Light</vt:lpstr>
      <vt:lpstr>Century Gothic</vt:lpstr>
      <vt:lpstr>Franklin Gothic Demi Cond</vt:lpstr>
      <vt:lpstr>Times New Roman</vt:lpstr>
      <vt:lpstr>Tema de Office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Usuario de Windows</dc:creator>
  <cp:lastModifiedBy>Benjamín de Jesús Cueva Niño de Guzmán</cp:lastModifiedBy>
  <cp:revision>606</cp:revision>
  <cp:lastPrinted>2026-01-10T00:10:26Z</cp:lastPrinted>
  <dcterms:created xsi:type="dcterms:W3CDTF">2021-04-21T14:50:50Z</dcterms:created>
  <dcterms:modified xsi:type="dcterms:W3CDTF">2026-02-02T08:06:20Z</dcterms:modified>
</cp:coreProperties>
</file>